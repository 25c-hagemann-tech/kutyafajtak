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Plus Jakarta Sans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9A093-E6BD-44C7-8554-66724699AE04}" type="datetimeFigureOut">
              <a:rPr lang="hu-HU" smtClean="0"/>
              <a:t>2026. 10. 20.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8D9EE-EC28-461D-AC19-F7E5CFFEDC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3015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8D9EE-EC28-461D-AC19-F7E5CFFEDC43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888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81576" y="3998566"/>
            <a:ext cx="2082053" cy="428625"/>
          </a:xfrm>
          <a:prstGeom prst="roundRect">
            <a:avLst>
              <a:gd name="adj" fmla="val 50000"/>
            </a:avLst>
          </a:prstGeom>
          <a:solidFill>
            <a:srgbClr val="E1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276" y="4141441"/>
            <a:ext cx="1905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04046" y="2164109"/>
            <a:ext cx="4583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EF2F2"/>
                </a:solidFill>
                <a:latin typeface="Plus Jakarta Sans"/>
              </a:rPr>
              <a:t>WEBFEJLESZTÉS PROJEKTBEMUTATÓ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1613" y="2535584"/>
            <a:ext cx="10188773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Magyar Kutyafajták Weboldal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3350865"/>
            <a:ext cx="8572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ECDD3"/>
                </a:solidFill>
                <a:latin typeface="Plus Jakarta Sans"/>
              </a:rPr>
              <a:t>A 9 hungarikum kutyafajta bemutatása modern, reszponzív Bootstrap webkeretrendszer segítségével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87633" y="4112866"/>
            <a:ext cx="1416733" cy="184666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Bootstrap 5 &amp; 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599" y="1208274"/>
            <a:ext cx="5334000" cy="2490507"/>
          </a:xfrm>
          <a:prstGeom prst="roundRect">
            <a:avLst>
              <a:gd name="adj" fmla="val 6889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1" y="4018709"/>
            <a:ext cx="5334000" cy="2490507"/>
          </a:xfrm>
          <a:prstGeom prst="roundRect">
            <a:avLst>
              <a:gd name="adj" fmla="val 6506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598" y="1208274"/>
            <a:ext cx="175263" cy="249050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018709"/>
            <a:ext cx="175261" cy="249050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7" name="Csoportba foglalás 16">
            <a:extLst>
              <a:ext uri="{FF2B5EF4-FFF2-40B4-BE49-F238E27FC236}">
                <a16:creationId xmlns:a16="http://schemas.microsoft.com/office/drawing/2014/main" id="{555305FA-EB14-4046-91E8-B9A933C1C625}"/>
              </a:ext>
            </a:extLst>
          </p:cNvPr>
          <p:cNvGrpSpPr/>
          <p:nvPr/>
        </p:nvGrpSpPr>
        <p:grpSpPr>
          <a:xfrm>
            <a:off x="6164581" y="1903599"/>
            <a:ext cx="5714208" cy="3469341"/>
            <a:chOff x="6248400" y="1927412"/>
            <a:chExt cx="5714208" cy="3469341"/>
          </a:xfrm>
        </p:grpSpPr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8400" y="1927412"/>
              <a:ext cx="5714208" cy="3469341"/>
            </a:xfrm>
            <a:prstGeom prst="rect">
              <a:avLst/>
            </a:prstGeom>
          </p:spPr>
        </p:pic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6659" y="2020140"/>
              <a:ext cx="5334000" cy="3238500"/>
            </a:xfrm>
            <a:prstGeom prst="rect">
              <a:avLst/>
            </a:prstGeom>
          </p:spPr>
        </p:pic>
      </p:grp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299" y="1474974"/>
            <a:ext cx="404960" cy="4049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1" y="4285409"/>
            <a:ext cx="506200" cy="404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8779" y="1453662"/>
            <a:ext cx="6350793" cy="430887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2800" b="1" i="0" u="none" dirty="0" err="1">
                <a:solidFill>
                  <a:srgbClr val="111827"/>
                </a:solidFill>
                <a:latin typeface="Plus Jakarta Sans"/>
              </a:rPr>
              <a:t>Fő</a:t>
            </a:r>
            <a:r>
              <a:rPr sz="2800" b="1" i="0" u="none" dirty="0">
                <a:solidFill>
                  <a:srgbClr val="111827"/>
                </a:solidFill>
                <a:latin typeface="Plus Jakarta Sans"/>
              </a:rPr>
              <a:t> </a:t>
            </a:r>
            <a:r>
              <a:rPr sz="2800" b="1" i="0" u="none" dirty="0" err="1">
                <a:solidFill>
                  <a:srgbClr val="111827"/>
                </a:solidFill>
                <a:latin typeface="Plus Jakarta Sans"/>
              </a:rPr>
              <a:t>célkitűzés</a:t>
            </a:r>
            <a:endParaRPr sz="2800" b="1" i="0" u="none" dirty="0">
              <a:solidFill>
                <a:srgbClr val="111827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6301" y="1994927"/>
            <a:ext cx="493395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Kulturális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örökségünk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, a 9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hungarikum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magyar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kutyafajta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átfogó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,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esztétikus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és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könnyen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hozzáférhető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digitális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bemutatása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314" y="4259482"/>
            <a:ext cx="2163285" cy="430887"/>
          </a:xfrm>
          <a:prstGeom prst="rect">
            <a:avLst/>
          </a:prstGeom>
          <a:noFill/>
        </p:spPr>
        <p:txBody>
          <a:bodyPr wrap="none" lIns="333375" tIns="0" rIns="0" bIns="0" anchor="t">
            <a:spAutoFit/>
          </a:bodyPr>
          <a:lstStyle/>
          <a:p>
            <a:pPr algn="l"/>
            <a:r>
              <a:rPr sz="2800" b="1" i="0" u="none" dirty="0" err="1">
                <a:solidFill>
                  <a:srgbClr val="111827"/>
                </a:solidFill>
                <a:latin typeface="Plus Jakarta Sans"/>
              </a:rPr>
              <a:t>Célközönség</a:t>
            </a:r>
            <a:endParaRPr sz="1500" b="1" i="0" u="none" dirty="0">
              <a:solidFill>
                <a:srgbClr val="111827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6299" y="4818729"/>
            <a:ext cx="493395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Kutyabarátok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,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fajta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iránt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érdeklődők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,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tanulók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és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mindazok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,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akik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a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hazai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fajták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történetét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szeretnék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B5563"/>
                </a:solidFill>
                <a:latin typeface="Plus Jakarta Sans"/>
              </a:rPr>
              <a:t>megismerni</a:t>
            </a:r>
            <a:r>
              <a:rPr b="0" i="0" u="none" dirty="0">
                <a:solidFill>
                  <a:srgbClr val="4B5563"/>
                </a:solidFill>
                <a:latin typeface="Plus Jakarta Sans"/>
              </a:rPr>
              <a:t>.</a:t>
            </a:r>
          </a:p>
        </p:txBody>
      </p:sp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286732EB-0151-4135-83F7-2DC154C0B423}"/>
              </a:ext>
            </a:extLst>
          </p:cNvPr>
          <p:cNvSpPr/>
          <p:nvPr/>
        </p:nvSpPr>
        <p:spPr>
          <a:xfrm>
            <a:off x="212912" y="186578"/>
            <a:ext cx="4643716" cy="594472"/>
          </a:xfrm>
          <a:prstGeom prst="roundRect">
            <a:avLst>
              <a:gd name="adj" fmla="val 50000"/>
            </a:avLst>
          </a:prstGeom>
          <a:solidFill>
            <a:srgbClr val="E1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2800" b="1" i="0" u="none" dirty="0">
                <a:solidFill>
                  <a:schemeClr val="bg1"/>
                </a:solidFill>
                <a:latin typeface="Plus Jakarta Sans"/>
              </a:rPr>
              <a:t>Miért készült a weboldal?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40462" y="1604962"/>
            <a:ext cx="3539727" cy="2362793"/>
          </a:xfrm>
          <a:prstGeom prst="roundRect">
            <a:avLst>
              <a:gd name="adj" fmla="val 8839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07364" y="1604962"/>
            <a:ext cx="3539727" cy="2395539"/>
          </a:xfrm>
          <a:prstGeom prst="roundRect">
            <a:avLst>
              <a:gd name="adj" fmla="val 8839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240462" y="4238329"/>
            <a:ext cx="3539727" cy="2362793"/>
          </a:xfrm>
          <a:prstGeom prst="roundRect">
            <a:avLst>
              <a:gd name="adj" fmla="val 8839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07364" y="4238329"/>
            <a:ext cx="3539727" cy="2362793"/>
          </a:xfrm>
          <a:prstGeom prst="roundRect">
            <a:avLst>
              <a:gd name="adj" fmla="val 8839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061" y="1833561"/>
            <a:ext cx="626597" cy="62659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63" y="1833561"/>
            <a:ext cx="635281" cy="63528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061" y="4466928"/>
            <a:ext cx="626597" cy="62659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63" y="4466928"/>
            <a:ext cx="626597" cy="62659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412" y="1966912"/>
            <a:ext cx="388724" cy="38872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926" y="1973543"/>
            <a:ext cx="460058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2412" y="4600279"/>
            <a:ext cx="388724" cy="38872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9314" y="4600279"/>
            <a:ext cx="388724" cy="388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69062" y="2443162"/>
            <a:ext cx="382903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1F2937"/>
                </a:solidFill>
                <a:latin typeface="Plus Jakarta Sans"/>
              </a:rPr>
              <a:t>Ragadós</a:t>
            </a:r>
            <a:r>
              <a:rPr sz="2400" b="1" i="0" u="none" dirty="0">
                <a:solidFill>
                  <a:srgbClr val="1F2937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1F2937"/>
                </a:solidFill>
                <a:latin typeface="Plus Jakarta Sans"/>
              </a:rPr>
              <a:t>Menü</a:t>
            </a:r>
            <a:endParaRPr sz="2400" b="1" i="0" u="none" dirty="0">
              <a:solidFill>
                <a:srgbClr val="1F2937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69061" y="2852708"/>
            <a:ext cx="304701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Sticky-top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navigáció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sima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görgetéssel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a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szekciók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között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5964" y="2443162"/>
            <a:ext cx="382903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1F2937"/>
                </a:solidFill>
                <a:latin typeface="Plus Jakarta Sans"/>
              </a:rPr>
              <a:t>Képgaléria</a:t>
            </a:r>
            <a:endParaRPr sz="2400" b="1" i="0" u="none" dirty="0">
              <a:solidFill>
                <a:srgbClr val="1F2937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35963" y="2919411"/>
            <a:ext cx="340816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Informatív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Bootstrap Carousel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diavetítés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a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fejlécben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9062" y="5076529"/>
            <a:ext cx="382903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F2937"/>
                </a:solidFill>
                <a:latin typeface="Plus Jakarta Sans"/>
              </a:rPr>
              <a:t>Modal </a:t>
            </a:r>
            <a:r>
              <a:rPr sz="2400" b="1" i="0" u="none" dirty="0" err="1">
                <a:solidFill>
                  <a:srgbClr val="1F2937"/>
                </a:solidFill>
                <a:latin typeface="Plus Jakarta Sans"/>
              </a:rPr>
              <a:t>Ablakok</a:t>
            </a:r>
            <a:endParaRPr sz="2400" b="1" i="0" u="none" dirty="0">
              <a:solidFill>
                <a:srgbClr val="1F2937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69062" y="5445861"/>
            <a:ext cx="3047018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Kártyákról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nyíló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részletes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fajtaleírások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felugró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ablakban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5964" y="5076529"/>
            <a:ext cx="382903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1F2937"/>
                </a:solidFill>
                <a:latin typeface="Plus Jakarta Sans"/>
              </a:rPr>
              <a:t>Kapcsolat</a:t>
            </a:r>
            <a:r>
              <a:rPr sz="2400" b="1" i="0" u="none" dirty="0">
                <a:solidFill>
                  <a:srgbClr val="1F2937"/>
                </a:solidFill>
                <a:latin typeface="Plus Jakarta Sans"/>
              </a:rPr>
              <a:t>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5963" y="5491222"/>
            <a:ext cx="304701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Reszponzív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üzenetküldő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űrlap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a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lábléc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4B5563"/>
                </a:solidFill>
                <a:latin typeface="Plus Jakarta Sans"/>
              </a:rPr>
              <a:t>szekcióban</a:t>
            </a:r>
            <a:r>
              <a:rPr sz="2000" b="0" i="0" u="none" dirty="0">
                <a:solidFill>
                  <a:srgbClr val="4B5563"/>
                </a:solidFill>
                <a:latin typeface="Plus Jakarta Sans"/>
              </a:rPr>
              <a:t>.</a:t>
            </a:r>
          </a:p>
        </p:txBody>
      </p:sp>
      <p:sp>
        <p:nvSpPr>
          <p:cNvPr id="24" name="Rounded Rectangle 1">
            <a:extLst>
              <a:ext uri="{FF2B5EF4-FFF2-40B4-BE49-F238E27FC236}">
                <a16:creationId xmlns:a16="http://schemas.microsoft.com/office/drawing/2014/main" id="{211EB427-8880-4F03-B288-058C078E405E}"/>
              </a:ext>
            </a:extLst>
          </p:cNvPr>
          <p:cNvSpPr/>
          <p:nvPr/>
        </p:nvSpPr>
        <p:spPr>
          <a:xfrm>
            <a:off x="212911" y="186578"/>
            <a:ext cx="5978339" cy="594472"/>
          </a:xfrm>
          <a:prstGeom prst="roundRect">
            <a:avLst>
              <a:gd name="adj" fmla="val 50000"/>
            </a:avLst>
          </a:prstGeom>
          <a:solidFill>
            <a:srgbClr val="E1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hu-HU" sz="2800" b="1" i="0" u="none" dirty="0">
                <a:solidFill>
                  <a:schemeClr val="bg1"/>
                </a:solidFill>
                <a:latin typeface="Plus Jakarta Sans"/>
              </a:rPr>
              <a:t>Működő honlap elemei és struktúrája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733550" y="1123950"/>
            <a:ext cx="3875484" cy="2305050"/>
          </a:xfrm>
          <a:prstGeom prst="roundRect">
            <a:avLst>
              <a:gd name="adj" fmla="val 8648"/>
            </a:avLst>
          </a:prstGeom>
          <a:solidFill>
            <a:srgbClr val="FEF2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85259" y="1123950"/>
            <a:ext cx="3875484" cy="2314100"/>
          </a:xfrm>
          <a:prstGeom prst="roundRect">
            <a:avLst>
              <a:gd name="adj" fmla="val 860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187727" y="3771900"/>
            <a:ext cx="5229225" cy="2452688"/>
          </a:xfrm>
          <a:prstGeom prst="roundRect">
            <a:avLst>
              <a:gd name="adj" fmla="val 8648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09775" y="1409700"/>
            <a:ext cx="1211089" cy="28657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61484" y="1409700"/>
            <a:ext cx="1010996" cy="28615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63953" y="4057650"/>
            <a:ext cx="1264677" cy="304929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24075" y="1447800"/>
            <a:ext cx="106365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HIBA JELENSÉG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9775" y="1752600"/>
            <a:ext cx="313258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991B1B"/>
                </a:solidFill>
                <a:latin typeface="Plus Jakarta Sans"/>
              </a:rPr>
              <a:t>Menü</a:t>
            </a:r>
            <a:r>
              <a:rPr sz="2400" b="1" i="0" u="none" dirty="0">
                <a:solidFill>
                  <a:srgbClr val="991B1B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991B1B"/>
                </a:solidFill>
                <a:latin typeface="Plus Jakarta Sans"/>
              </a:rPr>
              <a:t>takarási</a:t>
            </a:r>
            <a:r>
              <a:rPr sz="2400" b="1" i="0" u="none" dirty="0">
                <a:solidFill>
                  <a:srgbClr val="991B1B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991B1B"/>
                </a:solidFill>
                <a:latin typeface="Plus Jakarta Sans"/>
              </a:rPr>
              <a:t>probléma</a:t>
            </a:r>
            <a:endParaRPr sz="2400" b="1" i="0" u="none" dirty="0">
              <a:solidFill>
                <a:srgbClr val="991B1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09775" y="2170626"/>
            <a:ext cx="3369986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7F1D1D"/>
                </a:solidFill>
                <a:latin typeface="Plus Jakarta Sans"/>
              </a:rPr>
              <a:t>A </a:t>
            </a:r>
            <a:r>
              <a:rPr sz="2000" b="0" i="0" u="none" dirty="0" err="1">
                <a:solidFill>
                  <a:srgbClr val="7F1D1D"/>
                </a:solidFill>
                <a:latin typeface="Plus Jakarta Sans"/>
              </a:rPr>
              <a:t>fixerelt</a:t>
            </a:r>
            <a:r>
              <a:rPr sz="2000" b="0" i="0" u="none" dirty="0">
                <a:solidFill>
                  <a:srgbClr val="7F1D1D"/>
                </a:solidFill>
                <a:latin typeface="Plus Jakarta Sans"/>
              </a:rPr>
              <a:t> (sticky) </a:t>
            </a:r>
            <a:r>
              <a:rPr sz="2000" b="0" i="0" u="none" dirty="0" err="1">
                <a:solidFill>
                  <a:srgbClr val="7F1D1D"/>
                </a:solidFill>
                <a:latin typeface="Plus Jakarta Sans"/>
              </a:rPr>
              <a:t>fejléc</a:t>
            </a:r>
            <a:r>
              <a:rPr sz="2000" b="0" i="0" u="none" dirty="0">
                <a:solidFill>
                  <a:srgbClr val="7F1D1D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7F1D1D"/>
                </a:solidFill>
                <a:latin typeface="Plus Jakarta Sans"/>
              </a:rPr>
              <a:t>navigáció</a:t>
            </a:r>
            <a:r>
              <a:rPr sz="2000" b="0" i="0" u="none" dirty="0">
                <a:solidFill>
                  <a:srgbClr val="7F1D1D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7F1D1D"/>
                </a:solidFill>
                <a:latin typeface="Plus Jakarta Sans"/>
              </a:rPr>
              <a:t>görgetéskor</a:t>
            </a:r>
            <a:r>
              <a:rPr sz="2000" b="0" i="0" u="none" dirty="0">
                <a:solidFill>
                  <a:srgbClr val="7F1D1D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7F1D1D"/>
                </a:solidFill>
                <a:latin typeface="Plus Jakarta Sans"/>
              </a:rPr>
              <a:t>kitakarta</a:t>
            </a:r>
            <a:r>
              <a:rPr sz="2000" b="0" i="0" u="none" dirty="0">
                <a:solidFill>
                  <a:srgbClr val="7F1D1D"/>
                </a:solidFill>
                <a:latin typeface="Plus Jakarta Sans"/>
              </a:rPr>
              <a:t> a </a:t>
            </a:r>
            <a:r>
              <a:rPr sz="2000" b="0" i="0" u="none" dirty="0" err="1">
                <a:solidFill>
                  <a:srgbClr val="7F1D1D"/>
                </a:solidFill>
                <a:latin typeface="Plus Jakarta Sans"/>
              </a:rPr>
              <a:t>szekciók</a:t>
            </a:r>
            <a:r>
              <a:rPr sz="2000" b="0" i="0" u="none" dirty="0">
                <a:solidFill>
                  <a:srgbClr val="7F1D1D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7F1D1D"/>
                </a:solidFill>
                <a:latin typeface="Plus Jakarta Sans"/>
              </a:rPr>
              <a:t>tetejét</a:t>
            </a:r>
            <a:r>
              <a:rPr sz="2000" b="0" i="0" u="none" dirty="0">
                <a:solidFill>
                  <a:srgbClr val="7F1D1D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7F1D1D"/>
                </a:solidFill>
                <a:latin typeface="Plus Jakarta Sans"/>
              </a:rPr>
              <a:t>és</a:t>
            </a:r>
            <a:r>
              <a:rPr sz="2000" b="0" i="0" u="none" dirty="0">
                <a:solidFill>
                  <a:srgbClr val="7F1D1D"/>
                </a:solidFill>
                <a:latin typeface="Plus Jakarta Sans"/>
              </a:rPr>
              <a:t> a </a:t>
            </a:r>
            <a:r>
              <a:rPr sz="2000" b="0" i="0" u="none" dirty="0" err="1">
                <a:solidFill>
                  <a:srgbClr val="7F1D1D"/>
                </a:solidFill>
                <a:latin typeface="Plus Jakarta Sans"/>
              </a:rPr>
              <a:t>címsorokat</a:t>
            </a:r>
            <a:r>
              <a:rPr sz="2000" b="0" i="0" u="none" dirty="0">
                <a:solidFill>
                  <a:srgbClr val="7F1D1D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5783" y="1447800"/>
            <a:ext cx="8635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FFFFFF"/>
                </a:solidFill>
                <a:latin typeface="Plus Jakarta Sans"/>
              </a:rPr>
              <a:t>MEGOLDÁS</a:t>
            </a:r>
            <a:endParaRPr sz="9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61484" y="1752600"/>
            <a:ext cx="428488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166534"/>
                </a:solidFill>
                <a:latin typeface="Plus Jakarta Sans"/>
              </a:rPr>
              <a:t>CSS ::before offset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1484" y="2082165"/>
            <a:ext cx="3369986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14532D"/>
                </a:solidFill>
                <a:latin typeface="Plus Jakarta Sans"/>
              </a:rPr>
              <a:t>A </a:t>
            </a:r>
            <a:r>
              <a:rPr sz="2000" b="0" i="0" u="none" dirty="0" err="1">
                <a:solidFill>
                  <a:srgbClr val="14532D"/>
                </a:solidFill>
                <a:latin typeface="Plus Jakarta Sans"/>
              </a:rPr>
              <a:t>szekciók</a:t>
            </a:r>
            <a:r>
              <a:rPr sz="2000" b="0" i="0" u="none" dirty="0">
                <a:solidFill>
                  <a:srgbClr val="14532D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14532D"/>
                </a:solidFill>
                <a:latin typeface="Plus Jakarta Sans"/>
              </a:rPr>
              <a:t>elé</a:t>
            </a:r>
            <a:r>
              <a:rPr sz="2000" b="0" i="0" u="none" dirty="0">
                <a:solidFill>
                  <a:srgbClr val="14532D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14532D"/>
                </a:solidFill>
                <a:latin typeface="Plus Jakarta Sans"/>
              </a:rPr>
              <a:t>láthatatlan</a:t>
            </a:r>
            <a:r>
              <a:rPr sz="2000" b="0" i="0" u="none" dirty="0">
                <a:solidFill>
                  <a:srgbClr val="14532D"/>
                </a:solidFill>
                <a:latin typeface="Plus Jakarta Sans"/>
              </a:rPr>
              <a:t>, 5rem </a:t>
            </a:r>
            <a:r>
              <a:rPr sz="2000" b="0" i="0" u="none" dirty="0" err="1">
                <a:solidFill>
                  <a:srgbClr val="14532D"/>
                </a:solidFill>
                <a:latin typeface="Plus Jakarta Sans"/>
              </a:rPr>
              <a:t>magasságú</a:t>
            </a:r>
            <a:r>
              <a:rPr sz="2000" b="0" i="0" u="none" dirty="0">
                <a:solidFill>
                  <a:srgbClr val="14532D"/>
                </a:solidFill>
                <a:latin typeface="Plus Jakarta Sans"/>
              </a:rPr>
              <a:t> ::before </a:t>
            </a:r>
            <a:r>
              <a:rPr sz="2000" b="0" i="0" u="none" dirty="0" err="1">
                <a:solidFill>
                  <a:srgbClr val="14532D"/>
                </a:solidFill>
                <a:latin typeface="Plus Jakarta Sans"/>
              </a:rPr>
              <a:t>pszeudoelemeket</a:t>
            </a:r>
            <a:r>
              <a:rPr sz="2000" b="0" i="0" u="none" dirty="0">
                <a:solidFill>
                  <a:srgbClr val="14532D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14532D"/>
                </a:solidFill>
                <a:latin typeface="Plus Jakarta Sans"/>
              </a:rPr>
              <a:t>illesztettünk</a:t>
            </a:r>
            <a:r>
              <a:rPr sz="2000" b="0" i="0" u="none" dirty="0">
                <a:solidFill>
                  <a:srgbClr val="14532D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14532D"/>
                </a:solidFill>
                <a:latin typeface="Plus Jakarta Sans"/>
              </a:rPr>
              <a:t>eltolásként</a:t>
            </a:r>
            <a:r>
              <a:rPr sz="2000" b="0" i="0" u="none" dirty="0">
                <a:solidFill>
                  <a:srgbClr val="14532D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8253" y="4095750"/>
            <a:ext cx="106573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FFFFFF"/>
                </a:solidFill>
                <a:latin typeface="Plus Jakarta Sans"/>
              </a:rPr>
              <a:t>TESZTELÉS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3953" y="4400550"/>
            <a:ext cx="572657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1E40AF"/>
                </a:solidFill>
                <a:latin typeface="Plus Jakarta Sans"/>
              </a:rPr>
              <a:t>Böngésző</a:t>
            </a:r>
            <a:r>
              <a:rPr sz="2400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1E40AF"/>
                </a:solidFill>
                <a:latin typeface="Plus Jakarta Sans"/>
              </a:rPr>
              <a:t>ellenőrzés</a:t>
            </a:r>
            <a:endParaRPr sz="2400" b="1" i="0" u="none" dirty="0">
              <a:solidFill>
                <a:srgbClr val="1E40AF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63953" y="4782979"/>
            <a:ext cx="4547152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1E3A8A"/>
                </a:solidFill>
                <a:latin typeface="Plus Jakarta Sans"/>
              </a:rPr>
              <a:t>Chrome &amp; Firefox</a:t>
            </a:r>
            <a:r>
              <a:rPr lang="hu-HU" sz="2000" b="0" i="0" u="none" dirty="0">
                <a:solidFill>
                  <a:srgbClr val="1E3A8A"/>
                </a:solidFill>
                <a:latin typeface="Plus Jakarta Sans"/>
              </a:rPr>
              <a:t>-ban </a:t>
            </a:r>
            <a:r>
              <a:rPr sz="2000" b="0" i="0" u="none" dirty="0" err="1">
                <a:solidFill>
                  <a:srgbClr val="1E3A8A"/>
                </a:solidFill>
                <a:latin typeface="Plus Jakarta Sans"/>
              </a:rPr>
              <a:t>ellenőriztük</a:t>
            </a:r>
            <a:r>
              <a:rPr sz="2000" b="0" i="0" u="none" dirty="0">
                <a:solidFill>
                  <a:srgbClr val="1E3A8A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1E3A8A"/>
                </a:solidFill>
                <a:latin typeface="Plus Jakarta Sans"/>
              </a:rPr>
              <a:t>mobil</a:t>
            </a:r>
            <a:r>
              <a:rPr sz="2000" b="0" i="0" u="none" dirty="0">
                <a:solidFill>
                  <a:srgbClr val="1E3A8A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1E3A8A"/>
                </a:solidFill>
                <a:latin typeface="Plus Jakarta Sans"/>
              </a:rPr>
              <a:t>és</a:t>
            </a:r>
            <a:r>
              <a:rPr sz="2000" b="0" i="0" u="none" dirty="0">
                <a:solidFill>
                  <a:srgbClr val="1E3A8A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1E3A8A"/>
                </a:solidFill>
                <a:latin typeface="Plus Jakarta Sans"/>
              </a:rPr>
              <a:t>asztali</a:t>
            </a:r>
            <a:r>
              <a:rPr sz="2000" b="0" i="0" u="none" dirty="0">
                <a:solidFill>
                  <a:srgbClr val="1E3A8A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1E3A8A"/>
                </a:solidFill>
                <a:latin typeface="Plus Jakarta Sans"/>
              </a:rPr>
              <a:t>nézetben</a:t>
            </a:r>
            <a:r>
              <a:rPr sz="2000" b="0" i="0" u="none" dirty="0">
                <a:solidFill>
                  <a:srgbClr val="1E3A8A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1E3A8A"/>
                </a:solidFill>
                <a:latin typeface="Plus Jakarta Sans"/>
              </a:rPr>
              <a:t>az</a:t>
            </a:r>
            <a:r>
              <a:rPr sz="2000" b="0" i="0" u="none" dirty="0">
                <a:solidFill>
                  <a:srgbClr val="1E3A8A"/>
                </a:solidFill>
                <a:latin typeface="Plus Jakarta Sans"/>
              </a:rPr>
              <a:t> </a:t>
            </a:r>
            <a:r>
              <a:rPr sz="2000" b="0" i="0" u="none" dirty="0" err="1">
                <a:solidFill>
                  <a:srgbClr val="1E3A8A"/>
                </a:solidFill>
                <a:latin typeface="Plus Jakarta Sans"/>
              </a:rPr>
              <a:t>ugrópontokat</a:t>
            </a:r>
            <a:r>
              <a:rPr sz="2000" b="0" i="0" u="none" dirty="0">
                <a:solidFill>
                  <a:srgbClr val="1E3A8A"/>
                </a:solidFill>
                <a:latin typeface="Plus Jakarta Sans"/>
              </a:rPr>
              <a:t>.</a:t>
            </a:r>
          </a:p>
        </p:txBody>
      </p:sp>
      <p:sp>
        <p:nvSpPr>
          <p:cNvPr id="21" name="Rounded Rectangle 1">
            <a:extLst>
              <a:ext uri="{FF2B5EF4-FFF2-40B4-BE49-F238E27FC236}">
                <a16:creationId xmlns:a16="http://schemas.microsoft.com/office/drawing/2014/main" id="{0AE062E1-4535-47FE-BC14-4BE346D8168C}"/>
              </a:ext>
            </a:extLst>
          </p:cNvPr>
          <p:cNvSpPr/>
          <p:nvPr/>
        </p:nvSpPr>
        <p:spPr>
          <a:xfrm>
            <a:off x="212912" y="186578"/>
            <a:ext cx="5302000" cy="594472"/>
          </a:xfrm>
          <a:prstGeom prst="roundRect">
            <a:avLst>
              <a:gd name="adj" fmla="val 50000"/>
            </a:avLst>
          </a:prstGeom>
          <a:solidFill>
            <a:srgbClr val="E1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hu-HU" sz="2800" b="1" i="0" u="none" dirty="0">
                <a:solidFill>
                  <a:schemeClr val="bg1"/>
                </a:solidFill>
                <a:latin typeface="Plus Jakarta Sans"/>
              </a:rPr>
              <a:t>Probléma feltárása és megoldása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76537"/>
            <a:ext cx="5162550" cy="2238375"/>
          </a:xfrm>
          <a:prstGeom prst="roundRect">
            <a:avLst>
              <a:gd name="adj" fmla="val 6808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76537"/>
            <a:ext cx="5334000" cy="2238375"/>
          </a:xfrm>
          <a:prstGeom prst="roundRect">
            <a:avLst>
              <a:gd name="adj" fmla="val 6808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9" y="3060189"/>
            <a:ext cx="190483" cy="21164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081337"/>
            <a:ext cx="14287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300" y="3043237"/>
            <a:ext cx="583493" cy="307777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111827"/>
                </a:solidFill>
                <a:latin typeface="Plus Jakarta Sans"/>
              </a:rPr>
              <a:t>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043237"/>
            <a:ext cx="2101153" cy="307777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lang="hu-HU" sz="2000" b="1" i="0" u="none" dirty="0">
                <a:solidFill>
                  <a:srgbClr val="111827"/>
                </a:solidFill>
                <a:latin typeface="Plus Jakarta Sans"/>
              </a:rPr>
              <a:t>Munkamegosztás</a:t>
            </a:r>
            <a:endParaRPr sz="2000" b="1" i="0" u="none" dirty="0">
              <a:solidFill>
                <a:srgbClr val="111827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6300" y="3393581"/>
            <a:ext cx="473848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4B5563"/>
                </a:solidFill>
                <a:latin typeface="Plus Jakarta Sans"/>
              </a:rPr>
              <a:t>HTML </a:t>
            </a:r>
            <a:r>
              <a:rPr sz="1400" b="1" i="0" u="none" dirty="0" err="1">
                <a:solidFill>
                  <a:srgbClr val="4B5563"/>
                </a:solidFill>
                <a:latin typeface="Plus Jakarta Sans"/>
              </a:rPr>
              <a:t>Struktúra</a:t>
            </a:r>
            <a:r>
              <a:rPr sz="1400" b="1" i="0" u="none" dirty="0">
                <a:solidFill>
                  <a:srgbClr val="4B5563"/>
                </a:solidFill>
                <a:latin typeface="Plus Jakarta Sans"/>
              </a:rPr>
              <a:t> &amp; Bootstrap Layout:</a:t>
            </a:r>
            <a:r>
              <a:rPr sz="14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4B5563"/>
                </a:solidFill>
                <a:latin typeface="Plus Jakarta Sans"/>
              </a:rPr>
              <a:t>Navigáció</a:t>
            </a:r>
            <a:r>
              <a:rPr sz="1400" b="0" i="0" u="none" dirty="0">
                <a:solidFill>
                  <a:srgbClr val="4B5563"/>
                </a:solidFill>
                <a:latin typeface="Plus Jakarta Sans"/>
              </a:rPr>
              <a:t>, Grid </a:t>
            </a:r>
            <a:r>
              <a:rPr sz="1400" b="0" i="0" u="none" dirty="0" err="1">
                <a:solidFill>
                  <a:srgbClr val="4B5563"/>
                </a:solidFill>
                <a:latin typeface="Plus Jakarta Sans"/>
              </a:rPr>
              <a:t>és</a:t>
            </a:r>
            <a:r>
              <a:rPr sz="1400" b="0" i="0" u="none" dirty="0">
                <a:solidFill>
                  <a:srgbClr val="4B5563"/>
                </a:solidFill>
                <a:latin typeface="Plus Jakarta Sans"/>
              </a:rPr>
              <a:t> Modal </a:t>
            </a:r>
            <a:r>
              <a:rPr sz="1400" b="0" i="0" u="none" dirty="0" err="1">
                <a:solidFill>
                  <a:srgbClr val="4B5563"/>
                </a:solidFill>
                <a:latin typeface="Plus Jakarta Sans"/>
              </a:rPr>
              <a:t>rendszer</a:t>
            </a:r>
            <a:r>
              <a:rPr sz="14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4B5563"/>
                </a:solidFill>
                <a:latin typeface="Plus Jakarta Sans"/>
              </a:rPr>
              <a:t>építése</a:t>
            </a:r>
            <a:r>
              <a:rPr sz="1400" b="0" i="0" u="none" dirty="0">
                <a:solidFill>
                  <a:srgbClr val="4B5563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869831"/>
            <a:ext cx="473848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4B5563"/>
                </a:solidFill>
                <a:latin typeface="Plus Jakarta Sans"/>
              </a:rPr>
              <a:t>CSS Formázás &amp; Bugfix:</a:t>
            </a:r>
            <a:r>
              <a:rPr sz="1400" b="0" i="0" u="none">
                <a:solidFill>
                  <a:srgbClr val="4B5563"/>
                </a:solidFill>
                <a:latin typeface="Plus Jakarta Sans"/>
              </a:rPr>
              <a:t> Egyedi stílusok, margók és a sticky nav CSS offset javítása.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346081"/>
            <a:ext cx="473848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4B5563"/>
                </a:solidFill>
                <a:latin typeface="Plus Jakarta Sans"/>
              </a:rPr>
              <a:t>Tartalom</a:t>
            </a:r>
            <a:r>
              <a:rPr sz="1400" b="1" i="0" u="none" dirty="0">
                <a:solidFill>
                  <a:srgbClr val="4B5563"/>
                </a:solidFill>
                <a:latin typeface="Plus Jakarta Sans"/>
              </a:rPr>
              <a:t> &amp; Git Workflow:</a:t>
            </a:r>
            <a:r>
              <a:rPr sz="14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4B5563"/>
                </a:solidFill>
                <a:latin typeface="Plus Jakarta Sans"/>
              </a:rPr>
              <a:t>Képek</a:t>
            </a:r>
            <a:r>
              <a:rPr sz="1400" b="0" i="0" u="none" dirty="0">
                <a:solidFill>
                  <a:srgbClr val="4B5563"/>
                </a:solidFill>
                <a:latin typeface="Plus Jakarta Sans"/>
              </a:rPr>
              <a:t>, </a:t>
            </a:r>
            <a:r>
              <a:rPr sz="1400" b="0" i="0" u="none" dirty="0" err="1">
                <a:solidFill>
                  <a:srgbClr val="4B5563"/>
                </a:solidFill>
                <a:latin typeface="Plus Jakarta Sans"/>
              </a:rPr>
              <a:t>leírások</a:t>
            </a:r>
            <a:r>
              <a:rPr sz="1400" b="0" i="0" u="none" dirty="0">
                <a:solidFill>
                  <a:srgbClr val="4B5563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4B5563"/>
                </a:solidFill>
                <a:latin typeface="Plus Jakarta Sans"/>
              </a:rPr>
              <a:t>gyűjtése</a:t>
            </a:r>
            <a:r>
              <a:rPr sz="1400" b="0" i="0" u="none" dirty="0">
                <a:solidFill>
                  <a:srgbClr val="4B5563"/>
                </a:solidFill>
                <a:latin typeface="Plus Jakarta Sans"/>
              </a:rPr>
              <a:t>, </a:t>
            </a:r>
            <a:r>
              <a:rPr sz="1400" b="0" i="0" u="none">
                <a:solidFill>
                  <a:srgbClr val="4B5563"/>
                </a:solidFill>
                <a:latin typeface="Plus Jakarta Sans"/>
              </a:rPr>
              <a:t>commit-ok kezelése</a:t>
            </a:r>
            <a:r>
              <a:rPr sz="1400" b="0" i="0" u="none" dirty="0">
                <a:solidFill>
                  <a:srgbClr val="4B5563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750" y="3351014"/>
            <a:ext cx="5162550" cy="1232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lang="hu-HU" sz="1400" dirty="0" err="1">
                <a:solidFill>
                  <a:srgbClr val="4B5563"/>
                </a:solidFill>
                <a:latin typeface="Plus Jakarta Sans"/>
              </a:rPr>
              <a:t>Hagemann</a:t>
            </a:r>
            <a:r>
              <a:rPr lang="hu-HU" sz="1400" dirty="0">
                <a:solidFill>
                  <a:srgbClr val="4B5563"/>
                </a:solidFill>
                <a:latin typeface="Plus Jakarta Sans"/>
              </a:rPr>
              <a:t> Márton Márk		</a:t>
            </a:r>
            <a:r>
              <a:rPr lang="hu-HU" sz="1400" dirty="0" err="1">
                <a:solidFill>
                  <a:srgbClr val="4B5563"/>
                </a:solidFill>
                <a:latin typeface="Plus Jakarta Sans"/>
              </a:rPr>
              <a:t>code</a:t>
            </a:r>
            <a:r>
              <a:rPr lang="hu-HU" sz="1400" dirty="0">
                <a:solidFill>
                  <a:srgbClr val="4B5563"/>
                </a:solidFill>
                <a:latin typeface="Plus Jakarta Sans"/>
              </a:rPr>
              <a:t> megírása + </a:t>
            </a:r>
            <a:r>
              <a:rPr lang="hu-HU" sz="1400" dirty="0" err="1">
                <a:solidFill>
                  <a:srgbClr val="4B5563"/>
                </a:solidFill>
                <a:latin typeface="Plus Jakarta Sans"/>
              </a:rPr>
              <a:t>githubra</a:t>
            </a:r>
            <a:r>
              <a:rPr lang="hu-HU" sz="1400" dirty="0">
                <a:solidFill>
                  <a:srgbClr val="4B5563"/>
                </a:solidFill>
                <a:latin typeface="Plus Jakarta Sans"/>
              </a:rPr>
              <a:t> való feltöltés </a:t>
            </a:r>
          </a:p>
          <a:p>
            <a:pPr>
              <a:lnSpc>
                <a:spcPct val="200000"/>
              </a:lnSpc>
            </a:pPr>
            <a:r>
              <a:rPr lang="hu-HU" sz="1400" b="0" i="0" u="none" dirty="0">
                <a:solidFill>
                  <a:srgbClr val="4B5563"/>
                </a:solidFill>
                <a:latin typeface="Plus Jakarta Sans"/>
              </a:rPr>
              <a:t>Egyed Norman			</a:t>
            </a:r>
            <a:r>
              <a:rPr lang="hu-HU" sz="1400" dirty="0" err="1">
                <a:solidFill>
                  <a:srgbClr val="4B5563"/>
                </a:solidFill>
                <a:latin typeface="Plus Jakarta Sans"/>
              </a:rPr>
              <a:t>code</a:t>
            </a:r>
            <a:r>
              <a:rPr lang="hu-HU" sz="1400" dirty="0">
                <a:solidFill>
                  <a:srgbClr val="4B5563"/>
                </a:solidFill>
                <a:latin typeface="Plus Jakarta Sans"/>
              </a:rPr>
              <a:t> megírása + </a:t>
            </a:r>
            <a:r>
              <a:rPr lang="hu-HU" sz="1400" dirty="0" err="1">
                <a:solidFill>
                  <a:srgbClr val="4B5563"/>
                </a:solidFill>
                <a:latin typeface="Plus Jakarta Sans"/>
              </a:rPr>
              <a:t>githubra</a:t>
            </a:r>
            <a:r>
              <a:rPr lang="hu-HU" sz="1400" dirty="0">
                <a:solidFill>
                  <a:srgbClr val="4B5563"/>
                </a:solidFill>
                <a:latin typeface="Plus Jakarta Sans"/>
              </a:rPr>
              <a:t> való feltöltés </a:t>
            </a:r>
            <a:endParaRPr lang="hu-HU" sz="1400" b="0" i="0" u="none" dirty="0">
              <a:solidFill>
                <a:srgbClr val="4B5563"/>
              </a:solidFill>
              <a:latin typeface="Plus Jakarta Sans"/>
            </a:endParaRPr>
          </a:p>
          <a:p>
            <a:pPr algn="l">
              <a:lnSpc>
                <a:spcPct val="200000"/>
              </a:lnSpc>
            </a:pPr>
            <a:r>
              <a:rPr lang="hu-HU" sz="1400" dirty="0">
                <a:solidFill>
                  <a:srgbClr val="4B5563"/>
                </a:solidFill>
                <a:latin typeface="Plus Jakarta Sans"/>
              </a:rPr>
              <a:t>Kovács Dominik			</a:t>
            </a:r>
            <a:r>
              <a:rPr lang="hu-HU" sz="1400" dirty="0" err="1">
                <a:solidFill>
                  <a:srgbClr val="4B5563"/>
                </a:solidFill>
                <a:latin typeface="Plus Jakarta Sans"/>
              </a:rPr>
              <a:t>ppt</a:t>
            </a:r>
            <a:r>
              <a:rPr lang="hu-HU" sz="1400" dirty="0">
                <a:solidFill>
                  <a:srgbClr val="4B5563"/>
                </a:solidFill>
                <a:latin typeface="Plus Jakarta Sans"/>
              </a:rPr>
              <a:t> készítése + </a:t>
            </a:r>
            <a:r>
              <a:rPr lang="hu-HU" sz="1400" dirty="0" err="1">
                <a:solidFill>
                  <a:srgbClr val="4B5563"/>
                </a:solidFill>
                <a:latin typeface="Plus Jakarta Sans"/>
              </a:rPr>
              <a:t>segitség</a:t>
            </a:r>
            <a:r>
              <a:rPr lang="hu-HU" sz="1400" dirty="0">
                <a:solidFill>
                  <a:srgbClr val="4B5563"/>
                </a:solidFill>
                <a:latin typeface="Plus Jakarta Sans"/>
              </a:rPr>
              <a:t> a többieknek</a:t>
            </a:r>
            <a:endParaRPr sz="1400" b="0" i="0" u="none" dirty="0">
              <a:solidFill>
                <a:srgbClr val="4B5563"/>
              </a:solidFill>
              <a:latin typeface="Plus Jakarta Sans"/>
            </a:endParaRPr>
          </a:p>
        </p:txBody>
      </p:sp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A9B3C965-99E0-4723-8801-421408BC8F94}"/>
              </a:ext>
            </a:extLst>
          </p:cNvPr>
          <p:cNvSpPr/>
          <p:nvPr/>
        </p:nvSpPr>
        <p:spPr>
          <a:xfrm>
            <a:off x="212911" y="186578"/>
            <a:ext cx="6300589" cy="594472"/>
          </a:xfrm>
          <a:prstGeom prst="roundRect">
            <a:avLst>
              <a:gd name="adj" fmla="val 50000"/>
            </a:avLst>
          </a:prstGeom>
          <a:solidFill>
            <a:srgbClr val="E1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hu-HU" sz="2800" b="1" i="0" u="none" dirty="0">
                <a:solidFill>
                  <a:schemeClr val="bg1"/>
                </a:solidFill>
                <a:latin typeface="Plus Jakarta Sans"/>
              </a:rPr>
              <a:t>Csapatmunka, korlátok és tapasztalatok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Szélesvásznú</PresentationFormat>
  <Paragraphs>38</Paragraphs>
  <Slides>5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Calibri</vt:lpstr>
      <vt:lpstr>Arial</vt:lpstr>
      <vt:lpstr>Plus Jakarta Sans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Dominik Kovács</dc:creator>
  <cp:keywords/>
  <dc:description>generated using python-pptx</dc:description>
  <cp:lastModifiedBy>Kovács Dominik</cp:lastModifiedBy>
  <cp:revision>7</cp:revision>
  <dcterms:created xsi:type="dcterms:W3CDTF">2013-01-27T09:14:16Z</dcterms:created>
  <dcterms:modified xsi:type="dcterms:W3CDTF">2026-10-20T11:37:33Z</dcterms:modified>
  <cp:category/>
</cp:coreProperties>
</file>